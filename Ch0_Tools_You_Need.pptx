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914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Segoe UI"/>
              </a:rPr>
              <a:t>Tools You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EA5E9"/>
                </a:solidFill>
                <a:latin typeface="Segoe UI"/>
              </a:rPr>
              <a:t>Chapter 0  ·  Machine Learning for Robotics</a:t>
            </a:r>
          </a:p>
          <a:p>
            <a:pPr>
              <a:spcBef>
                <a:spcPts val="1400"/>
              </a:spcBef>
            </a:pPr>
            <a:r>
              <a:rPr sz="1800" b="0" i="0">
                <a:solidFill>
                  <a:srgbClr val="F1F5F9"/>
                </a:solidFill>
                <a:latin typeface="Segoe UI"/>
              </a:rPr>
              <a:t>Set up VS Code, Python, and everything you'll install this week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Two Ways You'll Run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3236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100" b="1" i="0" dirty="0">
                <a:solidFill>
                  <a:srgbClr val="0EA5E9"/>
                </a:solidFill>
                <a:latin typeface="Segoe UI"/>
              </a:rPr>
              <a:t>Early chapters — in the browser &amp; Google </a:t>
            </a:r>
            <a:r>
              <a:rPr sz="2100" b="1" i="0" dirty="0" err="1">
                <a:solidFill>
                  <a:srgbClr val="0EA5E9"/>
                </a:solidFill>
                <a:latin typeface="Segoe UI"/>
              </a:rPr>
              <a:t>Colab</a:t>
            </a:r>
            <a:endParaRPr sz="2100" b="1" i="0" dirty="0">
              <a:solidFill>
                <a:srgbClr val="0EA5E9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Python basics run right on the course page (no install)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ML notebooks run in Google </a:t>
            </a:r>
            <a:r>
              <a:rPr sz="1900" b="0" i="0" dirty="0" err="1">
                <a:solidFill>
                  <a:srgbClr val="334155"/>
                </a:solidFill>
                <a:latin typeface="Segoe UI"/>
              </a:rPr>
              <a:t>Colab</a:t>
            </a:r>
            <a:endParaRPr sz="1900" b="0" i="0" dirty="0">
              <a:solidFill>
                <a:srgbClr val="334155"/>
              </a:solidFill>
              <a:latin typeface="Segoe UI"/>
            </a:endParaRP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 dirty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 dirty="0">
                <a:solidFill>
                  <a:srgbClr val="334155"/>
                </a:solidFill>
                <a:latin typeface="Segoe UI"/>
              </a:rPr>
              <a:t>Free, identical environment for everyone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100" b="1" i="0" dirty="0">
                <a:solidFill>
                  <a:srgbClr val="0EA5E9"/>
                </a:solidFill>
                <a:latin typeface="Segoe UI"/>
              </a:rPr>
              <a:t>Hardware projects — on your own laptop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You deploy code to a real robot over </a:t>
            </a:r>
            <a:r>
              <a:rPr sz="1900" b="0" i="0" dirty="0" err="1">
                <a:solidFill>
                  <a:srgbClr val="334155"/>
                </a:solidFill>
                <a:latin typeface="Segoe UI"/>
              </a:rPr>
              <a:t>WiFi</a:t>
            </a:r>
            <a:endParaRPr sz="1900" b="0" i="0" dirty="0">
              <a:solidFill>
                <a:srgbClr val="334155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Needs VS Code + Python + a set of libraries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 dirty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 dirty="0">
                <a:solidFill>
                  <a:srgbClr val="334155"/>
                </a:solidFill>
                <a:latin typeface="Segoe UI"/>
              </a:rPr>
              <a:t>Install locally only when you reach the projects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Early Chapters: Zero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2333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Run code cells directly on the website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 dirty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 dirty="0">
                <a:solidFill>
                  <a:srgbClr val="334155"/>
                </a:solidFill>
                <a:latin typeface="Segoe UI"/>
              </a:rPr>
              <a:t>Powered by </a:t>
            </a:r>
            <a:r>
              <a:rPr sz="1700" b="0" i="0" dirty="0" err="1">
                <a:solidFill>
                  <a:srgbClr val="334155"/>
                </a:solidFill>
                <a:latin typeface="Segoe UI"/>
              </a:rPr>
              <a:t>CPython</a:t>
            </a:r>
            <a:r>
              <a:rPr sz="1700" b="0" i="0" dirty="0">
                <a:solidFill>
                  <a:srgbClr val="334155"/>
                </a:solidFill>
                <a:latin typeface="Segoe UI"/>
              </a:rPr>
              <a:t> 3.12 compiled to </a:t>
            </a:r>
            <a:r>
              <a:rPr sz="1700" b="0" i="0" dirty="0" err="1">
                <a:solidFill>
                  <a:srgbClr val="334155"/>
                </a:solidFill>
                <a:latin typeface="Segoe UI"/>
              </a:rPr>
              <a:t>WebAssembly</a:t>
            </a:r>
            <a:r>
              <a:rPr sz="1700" b="0" i="0" dirty="0">
                <a:solidFill>
                  <a:srgbClr val="334155"/>
                </a:solidFill>
                <a:latin typeface="Segoe UI"/>
              </a:rPr>
              <a:t> (</a:t>
            </a:r>
            <a:r>
              <a:rPr sz="1700" b="0" i="0" dirty="0" err="1">
                <a:solidFill>
                  <a:srgbClr val="334155"/>
                </a:solidFill>
                <a:latin typeface="Segoe UI"/>
              </a:rPr>
              <a:t>Pyodide</a:t>
            </a:r>
            <a:r>
              <a:rPr sz="1700" b="0" i="0" dirty="0">
                <a:solidFill>
                  <a:srgbClr val="334155"/>
                </a:solidFill>
                <a:latin typeface="Segoe UI"/>
              </a:rPr>
              <a:t>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Use Google </a:t>
            </a:r>
            <a:r>
              <a:rPr sz="1900" b="0" i="0" dirty="0" err="1">
                <a:solidFill>
                  <a:srgbClr val="334155"/>
                </a:solidFill>
                <a:latin typeface="Segoe UI"/>
              </a:rPr>
              <a:t>Colab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 for the ML notebooks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 dirty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 dirty="0">
                <a:solidFill>
                  <a:srgbClr val="334155"/>
                </a:solidFill>
                <a:latin typeface="Segoe UI"/>
              </a:rPr>
              <a:t>A free, Google-hosted Python environment — nothing to install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Everyone starts from the same environment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Learn the concepts first, then move to hardware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The Local Toolchain — 6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29290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 dirty="0">
                <a:solidFill>
                  <a:srgbClr val="334155"/>
                </a:solidFill>
                <a:latin typeface="Segoe UI"/>
              </a:rPr>
              <a:t>1.  Install Visual Studio Code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 dirty="0">
                <a:solidFill>
                  <a:srgbClr val="334155"/>
                </a:solidFill>
                <a:latin typeface="Segoe UI"/>
              </a:rPr>
              <a:t>2.  Install Python 3.14.6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 dirty="0">
                <a:solidFill>
                  <a:srgbClr val="334155"/>
                </a:solidFill>
                <a:latin typeface="Segoe UI"/>
              </a:rPr>
              <a:t>3.  Add the Python extension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 dirty="0">
                <a:solidFill>
                  <a:srgbClr val="334155"/>
                </a:solidFill>
                <a:latin typeface="Segoe UI"/>
              </a:rPr>
              <a:t>4.  Verify your setup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 dirty="0">
                <a:solidFill>
                  <a:srgbClr val="334155"/>
                </a:solidFill>
                <a:latin typeface="Segoe UI"/>
              </a:rPr>
              <a:t>5.  Create a virtual environment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2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2200" b="0" i="0" dirty="0">
                <a:solidFill>
                  <a:srgbClr val="334155"/>
                </a:solidFill>
                <a:latin typeface="Segoe UI"/>
              </a:rPr>
              <a:t>6.  Install the </a:t>
            </a:r>
            <a:r>
              <a:rPr lang="en-US" sz="2200" b="0" i="0" dirty="0">
                <a:solidFill>
                  <a:srgbClr val="334155"/>
                </a:solidFill>
                <a:latin typeface="Segoe UI"/>
              </a:rPr>
              <a:t>Python </a:t>
            </a:r>
            <a:r>
              <a:rPr sz="2200" b="0" i="0" dirty="0">
                <a:solidFill>
                  <a:srgbClr val="334155"/>
                </a:solidFill>
                <a:latin typeface="Segoe UI"/>
              </a:rPr>
              <a:t>libraries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1 — Install VS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Download from code.visualstudio.com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Free editor for Windows, macOS, and Linux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Windows: tick “Add to PATH” during install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Launch it once to confirm it opens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626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2 — Install Python 3.14.6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0972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Download from python.org/downloads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Windows: tick “Add python.exe to PATH” on the first screen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Verify in a terminal: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91840"/>
            <a:ext cx="10515600" cy="58521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pPr algn="ctr"/>
            <a:r>
              <a:rPr sz="1500" b="0" i="0">
                <a:solidFill>
                  <a:srgbClr val="0F172A"/>
                </a:solidFill>
                <a:latin typeface="Consolas"/>
              </a:rPr>
              <a:t>python --version      # -&gt; Python 3.14.6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990" y="4160520"/>
            <a:ext cx="10903889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Also install Python 3.11 for the Teachable Machine / TensorFlow lessons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3 — Add the Python Extension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Open the Extensions panel  (Ctrl+Shift+X)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Install “Python” published by Microsoft</a:t>
            </a:r>
          </a:p>
          <a:p>
            <a:pPr lvl="1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It also installs Pylance — autocomplete + error checking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This is what gives you the ▶ Run button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4 — Verify Your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Run these quick checks in a new terminal: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10515600" cy="1517904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r>
              <a:rPr sz="1400" dirty="0">
                <a:solidFill>
                  <a:srgbClr val="0F172A"/>
                </a:solidFill>
                <a:latin typeface="Consolas"/>
              </a:rPr>
              <a:t>code --version           # VS Code installed &amp; on PATH</a:t>
            </a: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code --list-extensions   # should list 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ms-python.python</a:t>
            </a:r>
            <a:endParaRPr sz="1400" b="0" i="0" dirty="0">
              <a:solidFill>
                <a:srgbClr val="0F172A"/>
              </a:solidFill>
              <a:latin typeface="Consolas"/>
            </a:endParaRP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python --version         # should print Python 3.14.6</a:t>
            </a:r>
          </a:p>
          <a:p>
            <a:r>
              <a:rPr sz="1400" b="0" i="0" dirty="0" err="1">
                <a:solidFill>
                  <a:srgbClr val="0F172A"/>
                </a:solidFill>
                <a:latin typeface="Consolas"/>
              </a:rPr>
              <a:t>py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 --list                # Windows: all installed versions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10972800" cy="682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Or run check_setup.py and click ▶ Run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 dirty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 dirty="0">
                <a:solidFill>
                  <a:srgbClr val="334155"/>
                </a:solidFill>
                <a:latin typeface="Segoe UI"/>
              </a:rPr>
              <a:t>Prints Python 3.14.x  →  all three installs are correct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5 — Create a Virtual Environment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A private copy of Python + libraries for this course</a:t>
            </a:r>
          </a:p>
          <a:p>
            <a:pPr lvl="1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94A3B8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334155"/>
                </a:solidFill>
                <a:latin typeface="Segoe UI"/>
              </a:rPr>
              <a:t>Keeps installs isolated from other Python projects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In VS Code: Ctrl+Shift+P → “Python: Create Environment” → Venv → 3.14.6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Or in the terminal: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10515600" cy="120700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python -m 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venv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 .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venv</a:t>
            </a:r>
            <a:endParaRPr sz="1400" b="0" i="0" dirty="0">
              <a:solidFill>
                <a:srgbClr val="0F172A"/>
              </a:solidFill>
              <a:latin typeface="Consolas"/>
            </a:endParaRP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.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venv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\Scripts\Activate.ps1     # Windows (PowerShell)</a:t>
            </a: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source .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venv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/bin/activate      # macOS / Linux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Prompt shows (.venv) when the environment is active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Step 6 — Install the Libraries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Create requirements.txt with pinned versions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334155"/>
                </a:solidFill>
                <a:latin typeface="Segoe UI"/>
              </a:rPr>
              <a:t>Install everything in one command: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80360"/>
            <a:ext cx="10515600" cy="58521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pPr algn="ctr"/>
            <a:r>
              <a:rPr sz="1500" b="0" i="0">
                <a:solidFill>
                  <a:srgbClr val="0F172A"/>
                </a:solidFill>
                <a:latin typeface="Consolas"/>
              </a:rPr>
              <a:t>pip install -r requirements.txt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0972800" cy="713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Pinned versions = everyone gets identical packages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Core: </a:t>
            </a:r>
            <a:r>
              <a:rPr sz="1900" b="0" i="0" dirty="0" err="1">
                <a:solidFill>
                  <a:srgbClr val="334155"/>
                </a:solidFill>
                <a:latin typeface="Segoe UI"/>
              </a:rPr>
              <a:t>ultralytics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, </a:t>
            </a:r>
            <a:r>
              <a:rPr sz="1900" b="0" i="0" dirty="0" err="1">
                <a:solidFill>
                  <a:srgbClr val="334155"/>
                </a:solidFill>
                <a:latin typeface="Segoe UI"/>
              </a:rPr>
              <a:t>opencv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-python, </a:t>
            </a:r>
            <a:r>
              <a:rPr sz="1900" b="0" i="0" dirty="0" err="1">
                <a:solidFill>
                  <a:srgbClr val="334155"/>
                </a:solidFill>
                <a:latin typeface="Segoe UI"/>
              </a:rPr>
              <a:t>numpy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, </a:t>
            </a:r>
            <a:r>
              <a:rPr sz="1900" b="0" i="0" dirty="0" err="1">
                <a:solidFill>
                  <a:srgbClr val="334155"/>
                </a:solidFill>
                <a:latin typeface="Segoe UI"/>
              </a:rPr>
              <a:t>mediapipe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,</a:t>
            </a:r>
            <a:r>
              <a:rPr lang="en-US" sz="1900" b="0" i="0" dirty="0">
                <a:solidFill>
                  <a:srgbClr val="334155"/>
                </a:solidFill>
                <a:latin typeface="Segoe UI"/>
              </a:rPr>
              <a:t> </a:t>
            </a:r>
            <a:r>
              <a:rPr sz="1900" dirty="0" err="1">
                <a:solidFill>
                  <a:srgbClr val="334155"/>
                </a:solidFill>
                <a:latin typeface="Segoe UI"/>
              </a:rPr>
              <a:t>tensorflow</a:t>
            </a:r>
            <a:r>
              <a:rPr sz="1900" dirty="0">
                <a:solidFill>
                  <a:srgbClr val="334155"/>
                </a:solidFill>
                <a:latin typeface="Segoe UI"/>
              </a:rPr>
              <a:t>, teachable-machine, requests, urllib3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The Libraries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73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Library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ultralytics (YOLO)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Object detection — Exercise A, Project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opencv-python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Camera + image processing — Ch 7, all vision projects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numpy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Arrays and math — used almost everywhere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requests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Phone video stream — Project 1, WiFi projects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mediapipe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Hand &amp; pose tracking — gesture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tensorflow / teachable-machine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Image classification — Ch 7.4, PD.1d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matplotlib / pandas / scikit-learn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Data &amp; classic ML — Chapters 3–4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334155"/>
                          </a:solidFill>
                          <a:latin typeface="Segoe UI"/>
                        </a:rPr>
                        <a:t>gymnasium / pygame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334155"/>
                          </a:solidFill>
                          <a:latin typeface="Segoe UI"/>
                        </a:rPr>
                        <a:t>Reinforcement-learning demos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Keep Your Setup Frozen This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230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Pinned requirements.txt — no version drift on install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Turn off auto-update in VS Code settings</a:t>
            </a:r>
            <a:r>
              <a:rPr lang="en-US" sz="1900" dirty="0">
                <a:solidFill>
                  <a:srgbClr val="334155"/>
                </a:solidFill>
                <a:latin typeface="Segoe UI"/>
              </a:rPr>
              <a:t> by editing </a:t>
            </a:r>
            <a:r>
              <a:rPr lang="en-US" sz="1900" dirty="0" err="1">
                <a:solidFill>
                  <a:srgbClr val="334155"/>
                </a:solidFill>
                <a:latin typeface="Segoe UI"/>
              </a:rPr>
              <a:t>settings.json</a:t>
            </a:r>
            <a:r>
              <a:rPr lang="en-US" sz="1900" dirty="0">
                <a:solidFill>
                  <a:srgbClr val="334155"/>
                </a:solidFill>
                <a:latin typeface="Segoe UI"/>
              </a:rPr>
              <a:t> file: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900" dirty="0">
                <a:solidFill>
                  <a:srgbClr val="334155"/>
                </a:solidFill>
                <a:latin typeface="Segoe UI"/>
              </a:rPr>
              <a:t>Open the VS Code Command Palette by pressing Ctrl + Shift + P (Windows/Linux) or </a:t>
            </a:r>
            <a:r>
              <a:rPr lang="en-US" sz="1900" dirty="0" err="1">
                <a:solidFill>
                  <a:srgbClr val="334155"/>
                </a:solidFill>
                <a:latin typeface="Segoe UI"/>
              </a:rPr>
              <a:t>Cmd</a:t>
            </a:r>
            <a:r>
              <a:rPr lang="en-US" sz="1900" dirty="0">
                <a:solidFill>
                  <a:srgbClr val="334155"/>
                </a:solidFill>
                <a:latin typeface="Segoe UI"/>
              </a:rPr>
              <a:t> + Shift + P (macOS).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900" dirty="0">
                <a:solidFill>
                  <a:srgbClr val="334155"/>
                </a:solidFill>
                <a:latin typeface="Segoe UI"/>
              </a:rPr>
              <a:t>Type "Preferences: Open User Settings (JSON)" and select it from the list.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900" dirty="0">
                <a:solidFill>
                  <a:srgbClr val="334155"/>
                </a:solidFill>
                <a:latin typeface="Segoe UI"/>
              </a:rPr>
              <a:t>Paste the following three configuration lines inside the curly brackets {}. Be sure to add a comma at the end of your existing settings if you place them in the middle of the file. </a:t>
            </a:r>
            <a:endParaRPr sz="1900" b="0" i="0" dirty="0">
              <a:solidFill>
                <a:srgbClr val="334155"/>
              </a:solidFill>
              <a:latin typeface="Segoe U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4106424"/>
            <a:ext cx="10515600" cy="120700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t"/>
          <a:lstStyle/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"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update.mode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": "none",</a:t>
            </a: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"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extensions.autoUpdate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": false,</a:t>
            </a:r>
          </a:p>
          <a:p>
            <a:r>
              <a:rPr sz="1400" b="0" i="0" dirty="0">
                <a:solidFill>
                  <a:srgbClr val="0F172A"/>
                </a:solidFill>
                <a:latin typeface="Consolas"/>
              </a:rPr>
              <a:t>"</a:t>
            </a:r>
            <a:r>
              <a:rPr sz="1400" b="0" i="0" dirty="0" err="1">
                <a:solidFill>
                  <a:srgbClr val="0F172A"/>
                </a:solidFill>
                <a:latin typeface="Consolas"/>
              </a:rPr>
              <a:t>extensions.autoCheckUpdates</a:t>
            </a:r>
            <a:r>
              <a:rPr sz="1400" b="0" i="0" dirty="0">
                <a:solidFill>
                  <a:srgbClr val="0F172A"/>
                </a:solidFill>
                <a:latin typeface="Consolas"/>
              </a:rPr>
              <a:t>": false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00381"/>
            <a:ext cx="10074303" cy="713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Never run  pip install --upgrade  or  pip install -U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1" i="0" dirty="0">
                <a:solidFill>
                  <a:srgbClr val="0EA5E9"/>
                </a:solidFill>
                <a:latin typeface="Segoe UI"/>
              </a:rPr>
              <a:t>▪  </a:t>
            </a:r>
            <a:r>
              <a:rPr sz="1900" b="0" i="0" dirty="0">
                <a:solidFill>
                  <a:srgbClr val="334155"/>
                </a:solidFill>
                <a:latin typeface="Segoe UI"/>
              </a:rPr>
              <a:t>Snapshot after install:  pip freeze &gt; installed_versions.txt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Common Issues &amp;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‘python’ is not recognized  →  Add python.exe to PATH, reopen terminal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‘code’ is not recognized  →  Add VS Code to PATH / open a fresh terminal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No ▶ Run button  →  Python extension inactive or no interpreter selected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Wrong Python version  →  pick 3.14.6 in the bottom-right status bar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800" b="1" i="0">
                <a:solidFill>
                  <a:srgbClr val="0EA5E9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334155"/>
                </a:solidFill>
                <a:latin typeface="Segoe UI"/>
              </a:rPr>
              <a:t>Package ‘not found’  →  the venv isn't active (no (.venv) in the prompt)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You're Ready!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34440"/>
            <a:ext cx="1463040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94A3B8"/>
                </a:solidFill>
                <a:latin typeface="Segoe UI"/>
              </a:rPr>
              <a:t>Chapter 0  ·  Tools You Need  ·  ML for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VS Code installed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Python 3.14.6 on PATH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Python extension active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check_setup.py passes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Virtual environment created</a:t>
            </a:r>
          </a:p>
          <a:p>
            <a:pPr>
              <a:spcAft>
                <a:spcPts val="1400"/>
              </a:spcAft>
            </a:pPr>
            <a:r>
              <a:rPr sz="2200" b="1" i="0">
                <a:solidFill>
                  <a:srgbClr val="16A34A"/>
                </a:solidFill>
                <a:latin typeface="Segoe UI"/>
              </a:rPr>
              <a:t>✔  </a:t>
            </a:r>
            <a:r>
              <a:rPr sz="2200" b="0" i="0">
                <a:solidFill>
                  <a:srgbClr val="334155"/>
                </a:solidFill>
                <a:latin typeface="Segoe UI"/>
              </a:rPr>
              <a:t>Libraries installed from requirements.txt</a:t>
            </a:r>
          </a:p>
          <a:p>
            <a:pPr>
              <a:spcBef>
                <a:spcPts val="1800"/>
              </a:spcBef>
            </a:pPr>
            <a:r>
              <a:rPr sz="2000" b="1" i="1">
                <a:solidFill>
                  <a:srgbClr val="0EA5E9"/>
                </a:solidFill>
                <a:latin typeface="Segoe UI"/>
              </a:rPr>
              <a:t>Next: open your first project and start building.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1099</Words>
  <Application>Microsoft Office PowerPoint</Application>
  <PresentationFormat>Widescreen</PresentationFormat>
  <Paragraphs>135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Anurag Purwar</cp:lastModifiedBy>
  <cp:revision>3</cp:revision>
  <dcterms:created xsi:type="dcterms:W3CDTF">2013-01-27T09:14:16Z</dcterms:created>
  <dcterms:modified xsi:type="dcterms:W3CDTF">2026-07-05T23:51:59Z</dcterms:modified>
  <cp:category/>
</cp:coreProperties>
</file>