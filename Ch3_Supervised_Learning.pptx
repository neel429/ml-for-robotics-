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300" b="1" i="0">
                <a:solidFill>
                  <a:srgbClr val="34D399"/>
                </a:solidFill>
                <a:latin typeface="Segoe UI"/>
              </a:rPr>
              <a:t>Chapter 3  ·  Machine Learning for Robotics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1F5F9"/>
                </a:solidFill>
                <a:latin typeface="Segoe UI"/>
              </a:rPr>
              <a:t>Train on labeled examples — build a Robot Arm Failure 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Supervised learning — inputs with known answers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3.1  Classification vs Regression, and how to measure a model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3.2  Four key algorithms and when each shines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3.3  The end-to-end ML pipeline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3.4  Project — predict robot arm failures from sensor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1">
                <a:solidFill>
                  <a:srgbClr val="059669"/>
                </a:solidFill>
                <a:latin typeface="Segoe UI"/>
              </a:rPr>
              <a:t>learn from examples that already have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Training data = inputs paired with the correct answer (label)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The model learns the pattern:  inputs + labels → model → predictions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Running example: a factory robot arm that fails without warning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Goal — read sensor data and predict failure before it happens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3.1  Classification vs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Classification predicts a category — failure vs normal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Regression predicts a number — any value on a scale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Features = input columns (temperature, speed, torque, tool wear)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Label = what you predict (Machine failure: 0 = normal, 1 = failed)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Split data ~80/20 into train and test — the test set measures real generalization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3.1  Measuring a Model: Accuracy 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On imbalanced data, 96.6% accuracy can catch ZERO failures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Precision — of the alerts, how many were real failures?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Recall — of the real failures, how many did we catch?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F1-score — the balance of precision and recall (use as the primary metric)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Confusion matrix shows all four outcomes: TP, TN, FP, FN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Lower the threshold → catch more failures (recall ↑) but more false alarms (precision ↓)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3.2  Four Key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Algorithm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Interpretable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Best for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Linear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A fast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Decision Tree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Tree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Readable rules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100+ trees vote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Strong tabular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334155"/>
                          </a:solidFill>
                          <a:latin typeface="Segoe UI"/>
                        </a:rPr>
                        <a:t>Support Vector Machine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Widest margin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Segoe UI"/>
                        </a:rPr>
                        <a:t>Small, clean datasets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091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No algorithm is best for everything — start simple, then compare (No Free Lunch)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3.2a  Logistic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classifier despite the name — draws a straight separating line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Sigmoid turns the score into a probability; &gt; 0.5 → class 1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Interpretable weights show which features drive failure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Avoid when the relationship is non-linear (needs feature interactions)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12464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94A3B8"/>
                </a:solidFill>
                <a:latin typeface="Segoe UI"/>
              </a:rPr>
              <a:t>score -&gt; probability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10698480" cy="78638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500" b="0" i="0" dirty="0">
                <a:solidFill>
                  <a:srgbClr val="0F172A"/>
                </a:solidFill>
                <a:latin typeface="Consolas"/>
              </a:rPr>
              <a:t>z = -8 + 2.3*T + 1.7*W</a:t>
            </a:r>
          </a:p>
          <a:p>
            <a:pPr>
              <a:lnSpc>
                <a:spcPct val="100000"/>
              </a:lnSpc>
            </a:pPr>
            <a:r>
              <a:rPr sz="1500" b="0" i="0" dirty="0">
                <a:solidFill>
                  <a:srgbClr val="0F172A"/>
                </a:solidFill>
                <a:latin typeface="Consolas"/>
              </a:rPr>
              <a:t>P(failure) = sigmoid(z) = 1 / (1 + e^-z)    # &gt; 0.5 -&gt; class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3.2b  Decision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 flowchart the algorithm builds automatically from data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At each step asks one yes/no question on a feature, then splits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Picks the split that best separates the classes (Gini impurity)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Produces human-readable rules you can validate with an expert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Too deep → memorizes / overfits;  too shallow → underfits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Great for discovering thresholds (e.g. failures above 200 min tool wear)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3.2c  Random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Hundreds of decision trees that each vote — majority wins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Each tree sees a random sample of rows and features (bootstrapping)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Diversity cancels out any single tree's overfitting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Outputs a confidence score AND ranked feature importance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Often tool wear ranks as the top predictor of arm failure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Strong, low-tuning first choice for tabular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3.2d  Support Vector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06424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Finds the widest empty gap (margin) between the two classes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Only the closest points — the support vectors — set the boundary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The kernel trick (RBF) bends the boundary for curved problems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C controls strictness: small C = wider softer margin, large C = fewer mistakes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Best on small-to-medium, clean, scaled datasets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Avoid on very large data (slow) or when you need feature importances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3.3  The ML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10642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Get data → Explore (EDA) → Clean → Feature engineering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Split train/test → Scale → Train → Evaluate → Tune → Deploy</a:t>
            </a:r>
          </a:p>
          <a:p>
            <a:pPr>
              <a:spcAft>
                <a:spcPts val="11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Split before scaling; fit the scaler on train only (no leakage)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698480" cy="1883663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X_train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X_test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y_train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y_test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train_test_split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X, y,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test_size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=0.2,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random_state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=42, stratify=y)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scaler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StandardScaler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X_train_scaled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scaler.fit_transform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X_train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X_test_scaled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scaler.transform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X_test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)   # transform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3.4  Project: Robot Arm Failure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1">
                <a:solidFill>
                  <a:srgbClr val="059669"/>
                </a:solidFill>
                <a:latin typeface="Segoe UI"/>
              </a:rPr>
              <a:t>AI4I 2020 Predictive Maintenance — 10,000 real sensor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10642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Only ~3.4% of rows are failures — use class_weight="balanced"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Features: air temp, process temp, rotational speed, torque, tool wear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59669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Train on 8,000 rows, evaluate on 2,000 — judge by F1, not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94760"/>
            <a:ext cx="10698480" cy="13350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91440" rtlCol="0" anchor="t"/>
          <a:lstStyle/>
          <a:p>
            <a:pPr>
              <a:lnSpc>
                <a:spcPct val="100000"/>
              </a:lnSpc>
            </a:pPr>
            <a:r>
              <a:rPr sz="1400" b="0" i="0" dirty="0" err="1">
                <a:solidFill>
                  <a:srgbClr val="0F172A"/>
                </a:solidFill>
                <a:latin typeface="Consolas"/>
              </a:rPr>
              <a:t>feature_cols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 = ["Air temperature [K]", "Process temperature [K]",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                "Rotational speed [rpm]", "Torque [Nm]", "Tool wear [min]"]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X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df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[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feature_cols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0F172A"/>
                </a:solidFill>
                <a:latin typeface="Consolas"/>
              </a:rPr>
              <a:t>y = </a:t>
            </a:r>
            <a:r>
              <a:rPr sz="1400" b="0" i="0" dirty="0" err="1">
                <a:solidFill>
                  <a:srgbClr val="0F172A"/>
                </a:solidFill>
                <a:latin typeface="Consolas"/>
              </a:rPr>
              <a:t>df</a:t>
            </a:r>
            <a:r>
              <a:rPr sz="1400" b="0" i="0" dirty="0">
                <a:solidFill>
                  <a:srgbClr val="0F172A"/>
                </a:solidFill>
                <a:latin typeface="Consolas"/>
              </a:rPr>
              <a:t>["Machine failure"]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463040" cy="502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Chapter 3  ·  Supervised Learning  ·  ML for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60704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Supervised learning maps labeled inputs to outputs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Classification predicts a class; regression predicts a number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On imbalanced data, judge with precision / recall / F1 — not accuracy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Start with a simple model, then compare Random Forest and SVM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6A34A"/>
                </a:solidFill>
                <a:latin typeface="Segoe UI"/>
              </a:rPr>
              <a:t>✔  </a:t>
            </a:r>
            <a:r>
              <a:rPr sz="1900" b="0" i="0">
                <a:solidFill>
                  <a:srgbClr val="334155"/>
                </a:solidFill>
                <a:latin typeface="Segoe UI"/>
              </a:rPr>
              <a:t>Follow the pipeline: split → scale → train → evaluate → tune</a:t>
            </a:r>
          </a:p>
          <a:p>
            <a:pPr>
              <a:spcBef>
                <a:spcPts val="1600"/>
              </a:spcBef>
            </a:pPr>
            <a:r>
              <a:rPr sz="1800" b="1" i="1">
                <a:solidFill>
                  <a:srgbClr val="059669"/>
                </a:solidFill>
                <a:latin typeface="Segoe UI"/>
              </a:rPr>
              <a:t>Next: Chapter 4 — Unsupervised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1110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Purwar</cp:lastModifiedBy>
  <cp:revision>2</cp:revision>
  <dcterms:created xsi:type="dcterms:W3CDTF">2013-01-27T09:14:16Z</dcterms:created>
  <dcterms:modified xsi:type="dcterms:W3CDTF">2026-07-05T22:45:29Z</dcterms:modified>
  <cp:category/>
</cp:coreProperties>
</file>