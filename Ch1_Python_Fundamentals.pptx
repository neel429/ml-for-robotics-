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914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Segoe UI"/>
              </a:rPr>
              <a:t>Python Programming
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i="0">
                <a:solidFill>
                  <a:srgbClr val="22D3EE"/>
                </a:solidFill>
                <a:latin typeface="Segoe UI"/>
              </a:rPr>
              <a:t>Chapter 1  ·  Machine Learning for Robotics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1F5F9"/>
                </a:solidFill>
                <a:latin typeface="Segoe UI"/>
              </a:rPr>
              <a:t>The Python you need for every robot project — concepts, code, and common mistakes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What You'll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1  ·  Python Programming Fundamentals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9728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1.1  Why Python &amp; Colab — the language and where you run it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1.2  Variables &amp; Data Types — int, float, str, bool, f-strings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1.3  Data Structures — lists, tuples, sets, dictionaries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1.4  Control Flow — if / elif / else and logic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1.5  Loops — for, while, enumerate, zip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1.6  Functions — reusable blocks with inputs and returns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1.7  Classes — data + behavior bundled into objects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1.8  Libraries &amp; Imports — pip, PyPI, and import as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1.9  Checkpoint — build a Sensor Data Parser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1.1  Why Python &amp; Colab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1  ·  Python Programming Fundamentals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728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Python is the default language of machine learning</a:t>
            </a:r>
          </a:p>
          <a:p>
            <a:pPr lvl="1">
              <a:spcAft>
                <a:spcPts val="11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Readable syntax + a huge ecosystem: NumPy, PyTorch, OpenCV…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Run code three ways in this course:</a:t>
            </a:r>
          </a:p>
          <a:p>
            <a:pPr lvl="1">
              <a:spcAft>
                <a:spcPts val="11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On this page — CPython 3.12 in your browser (Pyodide)</a:t>
            </a:r>
          </a:p>
          <a:p>
            <a:pPr lvl="1">
              <a:spcAft>
                <a:spcPts val="11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In Google Colab — free, hosted, nothing to install</a:t>
            </a:r>
          </a:p>
          <a:p>
            <a:pPr lvl="1">
              <a:spcAft>
                <a:spcPts val="11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On your laptop — for the hardware projects (see Chapter 0)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Everyone starts from the same environment while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Python vs Other Languages: 3 Surprises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1  ·  Python Programming Fundamentals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9728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Indentation is the structure — 4 spaces make a block, not { }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No semicolons — one line is one statement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Dynamic typing — write  wheels = 4 , not  int wheels = 4;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99816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94A3B8"/>
                </a:solidFill>
                <a:latin typeface="Segoe UI"/>
              </a:rPr>
              <a:t>C++  (braces)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29000"/>
            <a:ext cx="5029200" cy="1353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91440" rtlCol="0" anchor="t"/>
          <a:lstStyle/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if (battery &lt; 10) {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  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cout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 &lt;&lt; "Low";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  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returnToBase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99816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94A3B8"/>
                </a:solidFill>
                <a:latin typeface="Segoe UI"/>
              </a:rPr>
              <a:t>Python  (indentation)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429000"/>
            <a:ext cx="5029200" cy="1353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91440" rtlCol="0" anchor="t"/>
          <a:lstStyle/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if battery &lt; 10: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   print("Low")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  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return_to_base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1.2  Variables &amp; Data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1  ·  Python Programming Fundamentals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A variable is a named box that holds a value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Four basic types: int, float, str, bool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f-strings insert values into text:  f"{name}: {d:.1f}m"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20440"/>
            <a:ext cx="10698480" cy="21762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91440" rtlCol="0" anchor="t"/>
          <a:lstStyle/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distance    = 2.45      # float</a:t>
            </a:r>
          </a:p>
          <a:p>
            <a:pPr>
              <a:lnSpc>
                <a:spcPct val="100000"/>
              </a:lnSpc>
            </a:pPr>
            <a:r>
              <a:rPr sz="1400" b="0" i="0" dirty="0" err="1">
                <a:solidFill>
                  <a:srgbClr val="0F172A"/>
                </a:solidFill>
                <a:latin typeface="Consolas"/>
              </a:rPr>
              <a:t>is_obstacle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 = True      # bool</a:t>
            </a:r>
          </a:p>
          <a:p>
            <a:pPr>
              <a:lnSpc>
                <a:spcPct val="100000"/>
              </a:lnSpc>
            </a:pPr>
            <a:r>
              <a:rPr sz="1400" b="0" i="0" dirty="0" err="1">
                <a:solidFill>
                  <a:srgbClr val="0F172A"/>
                </a:solidFill>
                <a:latin typeface="Consolas"/>
              </a:rPr>
              <a:t>robot_name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  = "ARIA"     # str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wheels      = 4         # int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print(type(distance))          # &lt;class 'float'&gt;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print(f"{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robot_name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} at {distance:.1f}m: {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is_obstacle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}")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1.3  Data Structures: Four Containers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1  ·  Python Programming Fundamentals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Syntax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Ordered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Changeable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Use it for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[ 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readings that arrive over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tuple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( 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fixed data (home coordinates)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{ 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unique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unique object types seen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dict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{k: v}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named robot state / packets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029200"/>
            <a:ext cx="109728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Containers keep related values together — no separate variable each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1.3  Dictionaries: Named Robot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1  ·  Python Programming Fundamentals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Key-value pairs — perfect for robot state and sensor packets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.get(key, default) reads safely without crashing on a missing key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46120"/>
            <a:ext cx="10698480" cy="2450591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91440" rtlCol="0" anchor="t"/>
          <a:lstStyle/>
          <a:p>
            <a:pPr>
              <a:lnSpc>
                <a:spcPct val="100000"/>
              </a:lnSpc>
            </a:pPr>
            <a:r>
              <a:rPr sz="1400" b="0" i="0" dirty="0" err="1">
                <a:solidFill>
                  <a:srgbClr val="0F172A"/>
                </a:solidFill>
                <a:latin typeface="Consolas"/>
              </a:rPr>
              <a:t>robot_state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 = {"name": "ARIA", "battery": 87, "speed": 1.2}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print(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f"Battery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: {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robot_state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['battery']}%")</a:t>
            </a:r>
          </a:p>
          <a:p>
            <a:pPr>
              <a:lnSpc>
                <a:spcPct val="100000"/>
              </a:lnSpc>
            </a:pPr>
            <a:r>
              <a:rPr sz="1400" b="0" i="0" dirty="0" err="1">
                <a:solidFill>
                  <a:srgbClr val="0F172A"/>
                </a:solidFill>
                <a:latin typeface="Consolas"/>
              </a:rPr>
              <a:t>robot_state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["battery"] -= 5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cam =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robot_state.get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("camera", "not installed")   # safe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for key, value in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robot_state.items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():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   print(f"  {key}: {value}")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1.4  Control Flow: if / elif / else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1  ·  Python Programming Fundamentals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Programs make decisions with comparisons and logic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Compare with  ==  !=  &lt;  &gt;  &lt;=  &gt;=  ·  combine with  and / or / not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698480" cy="2724911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91440" rtlCol="0" anchor="t"/>
          <a:lstStyle/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battery = 23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obstacle = True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if battery &lt; 10: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   print("Critical - return to base")</a:t>
            </a:r>
          </a:p>
          <a:p>
            <a:pPr>
              <a:lnSpc>
                <a:spcPct val="100000"/>
              </a:lnSpc>
            </a:pPr>
            <a:r>
              <a:rPr sz="1400" b="0" i="0" dirty="0" err="1">
                <a:solidFill>
                  <a:srgbClr val="0F172A"/>
                </a:solidFill>
                <a:latin typeface="Consolas"/>
              </a:rPr>
              <a:t>elif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 battery &lt; 25 and obstacle: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   print("Low battery near obstacle - stop")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else: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   print("Continue mission")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1.5  Loops: for and while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1  ·  Python Programming Fundamentals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for — when you know the collection ·  while — until a condition changes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enumerate() gives index + value ·  zip() walks two lists together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46120"/>
            <a:ext cx="10698480" cy="2450591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91440" rtlCol="0" anchor="t"/>
          <a:lstStyle/>
          <a:p>
            <a:pPr>
              <a:lnSpc>
                <a:spcPct val="100000"/>
              </a:lnSpc>
            </a:pPr>
            <a:r>
              <a:rPr sz="1400" b="0" i="0" dirty="0" err="1">
                <a:solidFill>
                  <a:srgbClr val="0F172A"/>
                </a:solidFill>
                <a:latin typeface="Consolas"/>
              </a:rPr>
              <a:t>sensor_log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 = [1.5, 0.8, 2.3, 0.2, 1.9]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for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i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, reading in enumerate(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sensor_log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   status = "DANGER" if reading &lt; 0.5 else "OK"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   print(f"  #{i}: {reading:.1f}m - {status}")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for time, r in zip(timestamps,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sensor_log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   print(f"  {time}: {r:.1f}m")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List Comprehensions: A One-Line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1  ·  Python Programming Fundamentals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Build a new list from an existing one in a single line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Pattern:  [ expression  for item in list  if condition ]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63240"/>
            <a:ext cx="10698480" cy="3273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91440" rtlCol="0" anchor="t"/>
          <a:lstStyle/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raw = [1.5, -0.2, 0.9, 2.1, -0.1]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# long version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clean = []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for r in raw: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if r &gt; 0: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    </a:t>
            </a:r>
            <a:r>
              <a:rPr sz="1300" b="0" i="0" dirty="0" err="1">
                <a:solidFill>
                  <a:srgbClr val="0F172A"/>
                </a:solidFill>
                <a:latin typeface="Consolas"/>
              </a:rPr>
              <a:t>clean.append</a:t>
            </a:r>
            <a:r>
              <a:rPr sz="1300" b="0" i="0" dirty="0">
                <a:solidFill>
                  <a:srgbClr val="0F172A"/>
                </a:solidFill>
                <a:latin typeface="Consolas"/>
              </a:rPr>
              <a:t>(r)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# one line - identical result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clean = [r for r in raw if r &gt; 0]</a:t>
            </a:r>
          </a:p>
          <a:p>
            <a:pPr>
              <a:lnSpc>
                <a:spcPct val="100000"/>
              </a:lnSpc>
            </a:pPr>
            <a:r>
              <a:rPr sz="1300" b="0" i="0" dirty="0" err="1">
                <a:solidFill>
                  <a:srgbClr val="0F172A"/>
                </a:solidFill>
                <a:latin typeface="Consolas"/>
              </a:rPr>
              <a:t>in_cm</a:t>
            </a:r>
            <a:r>
              <a:rPr sz="1300" b="0" i="0" dirty="0">
                <a:solidFill>
                  <a:srgbClr val="0F172A"/>
                </a:solidFill>
                <a:latin typeface="Consolas"/>
              </a:rPr>
              <a:t> = [r * 100 for r in clean]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1.6 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1  ·  Python Programming Fundamentals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Package reusable behavior — easier to test, read, and repair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Parameters, default values, a docstring, and a return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10698480" cy="29992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91440" rtlCol="0" anchor="t"/>
          <a:lstStyle/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def analyze(readings, danger=0.5, unit="m"):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"""Summarize a list of sensor readings."""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clean = [r for r in readings if r &gt; 0]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return {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    "min": min(clean),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    "average": sum(clean) / </a:t>
            </a:r>
            <a:r>
              <a:rPr sz="1300" b="0" i="0" dirty="0" err="1">
                <a:solidFill>
                  <a:srgbClr val="0F172A"/>
                </a:solidFill>
                <a:latin typeface="Consolas"/>
              </a:rPr>
              <a:t>len</a:t>
            </a:r>
            <a:r>
              <a:rPr sz="1300" b="0" i="0" dirty="0">
                <a:solidFill>
                  <a:srgbClr val="0F172A"/>
                </a:solidFill>
                <a:latin typeface="Consolas"/>
              </a:rPr>
              <a:t>(clean),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result = analyze([1.2, 0.3, 2.1, -0.5])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print(</a:t>
            </a:r>
            <a:r>
              <a:rPr sz="1300" b="0" i="0" dirty="0" err="1">
                <a:solidFill>
                  <a:srgbClr val="0F172A"/>
                </a:solidFill>
                <a:latin typeface="Consolas"/>
              </a:rPr>
              <a:t>f"Average</a:t>
            </a:r>
            <a:r>
              <a:rPr sz="1300" b="0" i="0" dirty="0">
                <a:solidFill>
                  <a:srgbClr val="0F172A"/>
                </a:solidFill>
                <a:latin typeface="Consolas"/>
              </a:rPr>
              <a:t>: {result['average']:.2f}m")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1.7  Classes: Data + Behavior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1  ·  Python Programming Fundamentals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A class bundles data (attributes) with the methods that use it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__init__ is the constructor ·  self is the object itself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10698480" cy="29992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91440" rtlCol="0" anchor="t"/>
          <a:lstStyle/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class Robot: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def __</a:t>
            </a:r>
            <a:r>
              <a:rPr sz="1300" b="0" i="0" dirty="0" err="1">
                <a:solidFill>
                  <a:srgbClr val="0F172A"/>
                </a:solidFill>
                <a:latin typeface="Consolas"/>
              </a:rPr>
              <a:t>init</a:t>
            </a:r>
            <a:r>
              <a:rPr sz="1300" b="0" i="0" dirty="0">
                <a:solidFill>
                  <a:srgbClr val="0F172A"/>
                </a:solidFill>
                <a:latin typeface="Consolas"/>
              </a:rPr>
              <a:t>__(self, name, battery=100):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    self.name = name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    </a:t>
            </a:r>
            <a:r>
              <a:rPr sz="1300" b="0" i="0" dirty="0" err="1">
                <a:solidFill>
                  <a:srgbClr val="0F172A"/>
                </a:solidFill>
                <a:latin typeface="Consolas"/>
              </a:rPr>
              <a:t>self.battery</a:t>
            </a:r>
            <a:r>
              <a:rPr sz="1300" b="0" i="0" dirty="0">
                <a:solidFill>
                  <a:srgbClr val="0F172A"/>
                </a:solidFill>
                <a:latin typeface="Consolas"/>
              </a:rPr>
              <a:t> = battery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def drive(self, minutes):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    </a:t>
            </a:r>
            <a:r>
              <a:rPr sz="1300" b="0" i="0" dirty="0" err="1">
                <a:solidFill>
                  <a:srgbClr val="0F172A"/>
                </a:solidFill>
                <a:latin typeface="Consolas"/>
              </a:rPr>
              <a:t>self.battery</a:t>
            </a:r>
            <a:r>
              <a:rPr sz="1300" b="0" i="0" dirty="0">
                <a:solidFill>
                  <a:srgbClr val="0F172A"/>
                </a:solidFill>
                <a:latin typeface="Consolas"/>
              </a:rPr>
              <a:t> -= minutes * 2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scout = Robot("Scout")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rover = Robot("Rover", battery=40)   # each keeps its own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Classes Remember State Between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1">
                <a:solidFill>
                  <a:srgbClr val="0891B2"/>
                </a:solidFill>
                <a:latin typeface="Segoe UI"/>
              </a:rPr>
              <a:t>the exact pattern Project 1's PID controller 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463040" cy="502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1  ·  Python Programming Fundamentals  ·  ML for Robotics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An object holds state that persists across method calls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Plain functions can't do this without extra bookkeeping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10698480" cy="2724911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91440" rtlCol="0" anchor="t"/>
          <a:lstStyle/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class </a:t>
            </a:r>
            <a:r>
              <a:rPr sz="1300" b="0" i="0" dirty="0" err="1">
                <a:solidFill>
                  <a:srgbClr val="0F172A"/>
                </a:solidFill>
                <a:latin typeface="Consolas"/>
              </a:rPr>
              <a:t>SimpleController</a:t>
            </a:r>
            <a:r>
              <a:rPr sz="1300" b="0" i="0" dirty="0">
                <a:solidFill>
                  <a:srgbClr val="0F172A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def __</a:t>
            </a:r>
            <a:r>
              <a:rPr sz="1300" b="0" i="0" dirty="0" err="1">
                <a:solidFill>
                  <a:srgbClr val="0F172A"/>
                </a:solidFill>
                <a:latin typeface="Consolas"/>
              </a:rPr>
              <a:t>init</a:t>
            </a:r>
            <a:r>
              <a:rPr sz="1300" b="0" i="0" dirty="0">
                <a:solidFill>
                  <a:srgbClr val="0F172A"/>
                </a:solidFill>
                <a:latin typeface="Consolas"/>
              </a:rPr>
              <a:t>__(self, gain):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    </a:t>
            </a:r>
            <a:r>
              <a:rPr sz="1300" b="0" i="0" dirty="0" err="1">
                <a:solidFill>
                  <a:srgbClr val="0F172A"/>
                </a:solidFill>
                <a:latin typeface="Consolas"/>
              </a:rPr>
              <a:t>self.gain</a:t>
            </a:r>
            <a:r>
              <a:rPr sz="1300" b="0" i="0" dirty="0">
                <a:solidFill>
                  <a:srgbClr val="0F172A"/>
                </a:solidFill>
                <a:latin typeface="Consolas"/>
              </a:rPr>
              <a:t> = gain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    </a:t>
            </a:r>
            <a:r>
              <a:rPr sz="1300" b="0" i="0" dirty="0" err="1">
                <a:solidFill>
                  <a:srgbClr val="0F172A"/>
                </a:solidFill>
                <a:latin typeface="Consolas"/>
              </a:rPr>
              <a:t>self.last_error</a:t>
            </a:r>
            <a:r>
              <a:rPr sz="1300" b="0" i="0" dirty="0">
                <a:solidFill>
                  <a:srgbClr val="0F172A"/>
                </a:solidFill>
                <a:latin typeface="Consolas"/>
              </a:rPr>
              <a:t> = 0        # state persists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def step(self, error):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    change = error - </a:t>
            </a:r>
            <a:r>
              <a:rPr sz="1300" b="0" i="0" dirty="0" err="1">
                <a:solidFill>
                  <a:srgbClr val="0F172A"/>
                </a:solidFill>
                <a:latin typeface="Consolas"/>
              </a:rPr>
              <a:t>self.last_error</a:t>
            </a:r>
            <a:endParaRPr sz="1300" b="0" i="0" dirty="0">
              <a:solidFill>
                <a:srgbClr val="0F172A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    </a:t>
            </a:r>
            <a:r>
              <a:rPr sz="1300" b="0" i="0" dirty="0" err="1">
                <a:solidFill>
                  <a:srgbClr val="0F172A"/>
                </a:solidFill>
                <a:latin typeface="Consolas"/>
              </a:rPr>
              <a:t>self.last_error</a:t>
            </a:r>
            <a:r>
              <a:rPr sz="1300" b="0" i="0" dirty="0">
                <a:solidFill>
                  <a:srgbClr val="0F172A"/>
                </a:solidFill>
                <a:latin typeface="Consolas"/>
              </a:rPr>
              <a:t> = error    # remember for next time</a:t>
            </a:r>
          </a:p>
          <a:p>
            <a:pPr>
              <a:lnSpc>
                <a:spcPct val="100000"/>
              </a:lnSpc>
            </a:pPr>
            <a:r>
              <a:rPr sz="1300" b="0" i="0" dirty="0">
                <a:solidFill>
                  <a:srgbClr val="0F172A"/>
                </a:solidFill>
                <a:latin typeface="Consolas"/>
              </a:rPr>
              <a:t>        return </a:t>
            </a:r>
            <a:r>
              <a:rPr sz="1300" b="0" i="0" dirty="0" err="1">
                <a:solidFill>
                  <a:srgbClr val="0F172A"/>
                </a:solidFill>
                <a:latin typeface="Consolas"/>
              </a:rPr>
              <a:t>self.gain</a:t>
            </a:r>
            <a:r>
              <a:rPr sz="1300" b="0" i="0" dirty="0">
                <a:solidFill>
                  <a:srgbClr val="0F172A"/>
                </a:solidFill>
                <a:latin typeface="Consolas"/>
              </a:rPr>
              <a:t> * error + change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1.8  Libraries &amp; Imports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1  ·  Python Programming Fundamentals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Standard library ships with Python:  math, random, datetime, os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Third-party packages live on PyPI — install with pip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Colab has most pre-installed; ModuleNotFoundError → pip install it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5661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Library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Install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Import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NumPy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pip install numpy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Consolas"/>
                        </a:rPr>
                        <a:t>import numpy as np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Pandas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pip install pandas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Consolas"/>
                        </a:rPr>
                        <a:t>import pandas as pd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Matplotlib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pip install matplotlib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Consolas"/>
                        </a:rPr>
                        <a:t>import matplotlib.pyplot as plt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scikit-learn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pip install scikit-learn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Consolas"/>
                        </a:rPr>
                        <a:t>from sklearn import ...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1.9  Checkpoint: Sensor Data Parser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1">
                <a:solidFill>
                  <a:srgbClr val="0891B2"/>
                </a:solidFill>
                <a:latin typeface="Segoe UI"/>
              </a:rPr>
              <a:t>put every Chapter 1 idea to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463040" cy="502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1  ·  Python Programming Fundamentals  ·  ML for Robotics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109728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You are given 30 minutes of robot data as a list of dictionaries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0891B2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Your job — parse it, clean it, and print a summary report: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Count entries and sensor errors (distance == -1)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Filter bad rows with a list comprehension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Find the hottest motor temperature and its task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Average battery drain per minute; unique tasks with a set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Wrap it in a function that returns a summary dictionary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1  ·  Python Programming Fundamentals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60704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2000" b="0" i="0">
                <a:solidFill>
                  <a:srgbClr val="334155"/>
                </a:solidFill>
                <a:latin typeface="Segoe UI"/>
              </a:rPr>
              <a:t>Indentation defines blocks — no braces, no semicolons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2000" b="0" i="0">
                <a:solidFill>
                  <a:srgbClr val="334155"/>
                </a:solidFill>
                <a:latin typeface="Segoe UI"/>
              </a:rPr>
              <a:t>Pick the right container: list, tuple, set, or dict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2000" b="0" i="0">
                <a:solidFill>
                  <a:srgbClr val="334155"/>
                </a:solidFill>
                <a:latin typeface="Segoe UI"/>
              </a:rPr>
              <a:t>if / elif / else and loops drive every program's logic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2000" b="0" i="0">
                <a:solidFill>
                  <a:srgbClr val="334155"/>
                </a:solidFill>
                <a:latin typeface="Segoe UI"/>
              </a:rPr>
              <a:t>Functions and classes make code reusable and stateful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2000" b="0" i="0">
                <a:solidFill>
                  <a:srgbClr val="334155"/>
                </a:solidFill>
                <a:latin typeface="Segoe UI"/>
              </a:rPr>
              <a:t>Classes are the backbone of every robot project ahead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2000" b="0" i="0">
                <a:solidFill>
                  <a:srgbClr val="334155"/>
                </a:solidFill>
                <a:latin typeface="Segoe UI"/>
              </a:rPr>
              <a:t>import libraries from PyPI to avoid rebuilding tools</a:t>
            </a:r>
          </a:p>
          <a:p>
            <a:pPr>
              <a:spcBef>
                <a:spcPts val="1600"/>
              </a:spcBef>
            </a:pPr>
            <a:r>
              <a:rPr sz="1900" b="1" i="1">
                <a:solidFill>
                  <a:srgbClr val="0891B2"/>
                </a:solidFill>
                <a:latin typeface="Segoe UI"/>
              </a:rPr>
              <a:t>Next: Chapter 2 — the math and ML foundations.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1657</Words>
  <Application>Microsoft Office PowerPoint</Application>
  <PresentationFormat>Widescreen</PresentationFormat>
  <Paragraphs>226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Anurag Purwar</cp:lastModifiedBy>
  <cp:revision>2</cp:revision>
  <dcterms:created xsi:type="dcterms:W3CDTF">2013-01-27T09:14:16Z</dcterms:created>
  <dcterms:modified xsi:type="dcterms:W3CDTF">2026-07-05T22:44:13Z</dcterms:modified>
  <cp:category/>
</cp:coreProperties>
</file>